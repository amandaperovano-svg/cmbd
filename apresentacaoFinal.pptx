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1005840"/>
            <a:ext cx="2011680" cy="201168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38360" y="2240280"/>
            <a:ext cx="1143000" cy="1143000"/>
          </a:xfrm>
          <a:prstGeom prst="ellipse">
            <a:avLst/>
          </a:prstGeom>
          <a:solidFill>
            <a:srgbClr val="20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3063240"/>
            <a:ext cx="777240" cy="777240"/>
          </a:xfrm>
          <a:prstGeom prst="ellipse">
            <a:avLst/>
          </a:prstGeom>
          <a:solidFill>
            <a:srgbClr val="2D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62179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BEDC"/>
                </a:solidFill>
                <a:latin typeface="Aptos"/>
              </a:defRPr>
            </a:pPr>
            <a:r>
              <a:t>SENAI  •  PROGRAMAÇÃO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76656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BANCO DE DADOS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PRODUÇÃO E 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337560"/>
            <a:ext cx="621792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1C3D8"/>
                </a:solidFill>
                <a:latin typeface="Aptos"/>
              </a:defRPr>
            </a:pPr>
            <a:r>
              <a:t>Organização, consultas e automação de dados com MySQL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315968"/>
            <a:ext cx="1097280" cy="54864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4754880"/>
            <a:ext cx="594360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E0EDF7"/>
                </a:solidFill>
                <a:latin typeface="Aptos"/>
              </a:defRPr>
            </a:pPr>
            <a:r>
              <a:t>Amanda Cardoso Perovano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E0EDF7"/>
                </a:solidFill>
                <a:latin typeface="Aptos"/>
              </a:defRPr>
            </a:pPr>
            <a:r>
              <a:t>Criação e Manipulação de Banco de Dados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01 •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O que é o projeto?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Um banco relacional para organizar informações de uma operação de produção e vendas.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3520440" cy="228600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Banco relacional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306324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Os dados ficam em tabelas que se conectam por identificadores.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228600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70632"/>
            <a:ext cx="306324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SGBD utilizado para armazenar, consultar e manipular os dados.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520440" cy="228600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22199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70632"/>
            <a:ext cx="306324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Facilitar o controle de clientes, fornecedores, produtos, compras e pedidos.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069848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BEDC"/>
                </a:solidFill>
                <a:latin typeface="Aptos"/>
              </a:defRPr>
            </a:pPr>
            <a:r>
              <a:t>A conexão entre as tabelas permite consultar informações relacionadas em conjunto.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02 •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As tabelas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Cada tabela tem uma responsabilidade dentro do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520440" cy="14173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9191"/>
            <a:ext cx="306324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Dados pessoais e contato.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14173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FORNECEDORES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1"/>
            <a:ext cx="306324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Dados e contato dos fornecedores.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520440" cy="14173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PRODUTOS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79191"/>
            <a:ext cx="306324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Descrição, preço, estoque e validade.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94760"/>
            <a:ext cx="3520440" cy="14173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07992"/>
            <a:ext cx="306324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Cliente, produto, quantidade 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3520440" cy="14173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9593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9776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COMPRAS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07992"/>
            <a:ext cx="306324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Fornecedor, produto, quantidade e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041648"/>
            <a:ext cx="32004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Também existem 3 tabelas de histórico para registrar dados anteriores às alterações.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03 • ORGANIZAÇÃO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Relacionamentos e histórico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Identificadores conectam os registros e ajudam a manter o contexto das operações.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12080" cy="21031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Relacionamentos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4754880" cy="1280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• Pedidos conectam clientes e produtos.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• Compras conectam fornecedores e produtos.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12080" cy="210312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222199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240280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Tabelas de histórico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70632"/>
            <a:ext cx="4754880" cy="1280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Guardam dados antigos, data da alteração e usuário responsável nas alterações previstas.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1498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0BEDC"/>
                </a:solidFill>
                <a:latin typeface="Aptos"/>
              </a:defRPr>
            </a:pPr>
            <a:r>
              <a:t>Resultado: mais organização e rastreabilidade das mudanças nos registros.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04 • STORED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Cadastros mais organizados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São conjuntos de comandos SQL salvos no banco e chamados quando necessário.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00BEDC"/>
                </a:solidFill>
                <a:latin typeface="Aptos"/>
              </a:defRPr>
            </a:pPr>
            <a:r>
              <a:t>5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20040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B1C3D8"/>
                </a:solidFill>
                <a:latin typeface="Aptos"/>
              </a:defRPr>
            </a:pPr>
            <a:r>
              <a:t>Uma para cada tipo de cadastro principal.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920240"/>
            <a:ext cx="7223760" cy="566928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2029968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p_inserir_cliente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02996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Cadastra clientes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633472"/>
            <a:ext cx="7223760" cy="566928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2743200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p_inserir_fornecedor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43200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Cadastra fornecedores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346704"/>
            <a:ext cx="7223760" cy="566928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3456432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p_inserir_produto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56432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Cadastra produtos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059935"/>
            <a:ext cx="7223760" cy="566928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4169663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p_inserir_compra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169663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Registra compras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773168"/>
            <a:ext cx="7223760" cy="566928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4882896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p_inserir_pedido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882896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Registra 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DF7"/>
                </a:solidFill>
                <a:latin typeface="Aptos"/>
              </a:defRPr>
            </a:pPr>
            <a:r>
              <a:t>Vantagem: evitar reescrever o INSERT completo a cada novo cadastro.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05 •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Consultas prontas para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Uma View salva uma consulta SQL para facilitar a visualização de informações.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148840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Fornecedores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9191"/>
            <a:ext cx="4754880" cy="5029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Quantidade de compras por fornecedor.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21208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Pedidos acima da média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79191"/>
            <a:ext cx="4754880" cy="5029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Pedidos cujo valor total supera a média.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21208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749039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Produtos mais vendidos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4754880" cy="5029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Vendas de produtos no mês anterior.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21208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37307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49039"/>
            <a:ext cx="42519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Total por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79392"/>
            <a:ext cx="4754880" cy="5029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Soma do valor dos pedidos de cada cliente.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BEDC"/>
                </a:solidFill>
                <a:latin typeface="Aptos"/>
              </a:defRPr>
            </a:pPr>
            <a:r>
              <a:t>As Views simplificam consultas sem precisar montar o comando toda vez.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06 • VIEWS →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Quais dados as Views mostram?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Cada consulta organiza informações específicas que já estão nas tabelas do banco.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5780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4884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Fornecedores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87752"/>
            <a:ext cx="48463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Nome do fornecedor e quantidade de compras.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25780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214884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Pedidos acima da média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587752"/>
            <a:ext cx="48463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Pedidos com valor total maior que a média calculada.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25780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84048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Produtos mais vendidos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79392"/>
            <a:ext cx="48463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Nome do produto, quantidade vendida e mês/ano.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257800" cy="13258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384048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Total por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279392"/>
            <a:ext cx="48463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Cliente e soma do valor dos seus pedidos.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00BEDC"/>
                </a:solidFill>
                <a:latin typeface="Aptos"/>
              </a:defRPr>
            </a:pPr>
            <a:r>
              <a:t>O relatório descreve os resultados esperados, mas não apresenta valores reais de saída.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06 •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Ações automáticas no banco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As Triggers são executadas quando acontece um evento definido, como inserir ou atualizar dados.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20116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Após uma compra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9191"/>
            <a:ext cx="306324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Aumenta o estoque do produto conforme a quantidade comprada.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20116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Após um pedido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1"/>
            <a:ext cx="306324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Diminui o estoque conforme a quantidade solicitada.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2011680"/>
          </a:xfrm>
          <a:prstGeom prst="roundRect">
            <a:avLst/>
          </a:prstGeom>
          <a:solidFill>
            <a:srgbClr val="0F2748"/>
          </a:solidFill>
          <a:ln>
            <a:solidFill>
              <a:srgbClr val="2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130552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148840"/>
            <a:ext cx="25603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Ao alterar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79191"/>
            <a:ext cx="306324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1C3D8"/>
                </a:solidFill>
                <a:latin typeface="Aptos"/>
              </a:defRPr>
            </a:pPr>
            <a:r>
              <a:t>Guarda versões antigas de clientes, fornecedores e produtos.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9848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1C3D8"/>
                </a:solidFill>
                <a:latin typeface="Aptos"/>
              </a:defRPr>
            </a:pPr>
            <a:r>
              <a:t>Observação técnica: o relatório identificou uma possível inconsistência em um trecho de trigger de compras, que tenta usar um campo “estoque” na tabela compras.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BEDC"/>
                </a:solidFill>
                <a:latin typeface="Aptos"/>
              </a:defRPr>
            </a:pPr>
            <a:r>
              <a:t>07 •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Um banco mais organizado e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B1C3D8"/>
                </a:solidFill>
                <a:latin typeface="Aptos"/>
              </a:defRPr>
            </a:pPr>
            <a:r>
              <a:t>O projeto combina diferentes recursos do MySQL para apoiar o controle de produção e vendas.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2423160" cy="1234440"/>
          </a:xfrm>
          <a:prstGeom prst="roundRect">
            <a:avLst/>
          </a:prstGeom>
          <a:solidFill>
            <a:srgbClr val="0F2748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57860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BEDC"/>
                </a:solidFill>
                <a:latin typeface="Aptos"/>
              </a:defRPr>
            </a:pPr>
            <a:r>
              <a:t>TABELAS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63240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Armazenam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74320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5F8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423160" cy="1234440"/>
          </a:xfrm>
          <a:prstGeom prst="roundRect">
            <a:avLst/>
          </a:prstGeom>
          <a:solidFill>
            <a:srgbClr val="0F2748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257860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BEDC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063240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Cadastram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74320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5F8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2423160" cy="1234440"/>
          </a:xfrm>
          <a:prstGeom prst="roundRect">
            <a:avLst/>
          </a:prstGeom>
          <a:solidFill>
            <a:srgbClr val="0F2748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257860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BEDC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063240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Consultam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74320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5F8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377440"/>
            <a:ext cx="2423160" cy="1234440"/>
          </a:xfrm>
          <a:prstGeom prst="roundRect">
            <a:avLst/>
          </a:prstGeom>
          <a:solidFill>
            <a:srgbClr val="0F2748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36607" y="257860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BEDC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3063240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Automatizam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14984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E0EDF7"/>
                </a:solidFill>
                <a:latin typeface="Aptos"/>
              </a:defRPr>
            </a:pPr>
            <a:r>
              <a:t>Esses recursos ajudam a manter os dados conectados, facilitam consultas e automatizam tarefas importantes.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149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t>OBRIGADA!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9634" y="2908663"/>
            <a:ext cx="11730446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BEDC"/>
                </a:solidFill>
                <a:latin typeface="Aptos"/>
              </a:defRPr>
            </a:pPr>
            <a:r>
              <a:rPr sz="4800" smtClean="0"/>
              <a:t>OBRIGAD</a:t>
            </a:r>
            <a:r>
              <a:rPr lang="pt-BR" sz="4800" dirty="0" smtClean="0"/>
              <a:t>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616</Words>
  <Application>Microsoft Macintosh PowerPoint</Application>
  <PresentationFormat>Personalizar</PresentationFormat>
  <Paragraphs>123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aluno</cp:lastModifiedBy>
  <cp:revision>2</cp:revision>
  <dcterms:created xsi:type="dcterms:W3CDTF">2013-01-27T09:14:16Z</dcterms:created>
  <dcterms:modified xsi:type="dcterms:W3CDTF">2026-10-15T18:22:17Z</dcterms:modified>
  <cp:category/>
</cp:coreProperties>
</file>